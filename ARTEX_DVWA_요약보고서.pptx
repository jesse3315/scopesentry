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6" r:id="rId2"/>
    <p:sldId id="277" r:id="rId3"/>
    <p:sldId id="278" r:id="rId10"/>
    <p:sldId id="279" r:id="rId11"/>
    <p:sldId id="280" r:id="rId12"/>
    <p:sldId id="281" r:id="rId13"/>
    <p:sldId id="282" r:id="rId14"/>
  </p:sldIdLst>
  <p:sldSz cx="9906000" cy="6858000" type="A4"/>
  <p:notesSz cx="6805613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6F00"/>
    <a:srgbClr val="2B59ED"/>
    <a:srgbClr val="0049B4"/>
    <a:srgbClr val="0050D2"/>
    <a:srgbClr val="344BF8"/>
    <a:srgbClr val="FFD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318" autoAdjust="0"/>
    <p:restoredTop sz="96353" autoAdjust="0"/>
  </p:normalViewPr>
  <p:slideViewPr>
    <p:cSldViewPr>
      <p:cViewPr varScale="1">
        <p:scale>
          <a:sx n="115" d="100"/>
          <a:sy n="115" d="100"/>
        </p:scale>
        <p:origin x="510" y="114"/>
      </p:cViewPr>
      <p:guideLst>
        <p:guide orient="horz" pos="2160"/>
        <p:guide pos="288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200" d="100"/>
          <a:sy n="200" d="100"/>
        </p:scale>
        <p:origin x="1344" y="-372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  <Relationship Id="rId10" Type="http://schemas.openxmlformats.org/officeDocument/2006/relationships/slide" Target="slides/slide3.xml"/>
  <Relationship Id="rId11" Type="http://schemas.openxmlformats.org/officeDocument/2006/relationships/slide" Target="slides/slide4.xml"/>
  <Relationship Id="rId12" Type="http://schemas.openxmlformats.org/officeDocument/2006/relationships/slide" Target="slides/slide5.xml"/>
  <Relationship Id="rId13" Type="http://schemas.openxmlformats.org/officeDocument/2006/relationships/slide" Target="slides/slide6.xml"/>
  <Relationship Id="rId14" Type="http://schemas.openxmlformats.org/officeDocument/2006/relationships/slide" Target="slides/slide7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888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140" y="0"/>
            <a:ext cx="294888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9BCCFD0-3DCF-4395-8D4C-F5A138BE1198}" type="datetimeFigureOut">
              <a:rPr lang="ko-KR" altLang="en-US"/>
              <a:pPr>
                <a:defRPr/>
              </a:pPr>
              <a:t>2021-11-04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888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140" y="9440864"/>
            <a:ext cx="294888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A3AFCA1-73D0-453D-A0C3-203BAD7AAD4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3438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888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140" y="0"/>
            <a:ext cx="294888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6A56A14-7D91-4FC3-9646-5536B54DF099}" type="datetimeFigureOut">
              <a:rPr lang="ko-KR" altLang="en-US"/>
              <a:pPr>
                <a:defRPr/>
              </a:pPr>
              <a:t>2021-11-04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0037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879" y="4721225"/>
            <a:ext cx="5443856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4"/>
            <a:ext cx="294888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140" y="9440864"/>
            <a:ext cx="294888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1FB0DA3-C449-4533-96BD-169A8193AF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0356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704780"/>
            <a:ext cx="8420100" cy="1084261"/>
          </a:xfrm>
        </p:spPr>
        <p:txBody>
          <a:bodyPr>
            <a:normAutofit/>
          </a:bodyPr>
          <a:lstStyle>
            <a:lvl1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 b="1"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ko-KR" altLang="en-US" dirty="0"/>
          </a:p>
        </p:txBody>
      </p:sp>
      <p:sp>
        <p:nvSpPr>
          <p:cNvPr id="12" name="Line 4">
            <a:extLst>
              <a:ext uri="{FF2B5EF4-FFF2-40B4-BE49-F238E27FC236}">
                <a16:creationId xmlns:a16="http://schemas.microsoft.com/office/drawing/2014/main" id="{9FC7A3B8-E789-4253-B00E-5A80E6A88662}"/>
              </a:ext>
            </a:extLst>
          </p:cNvPr>
          <p:cNvSpPr>
            <a:spLocks noChangeShapeType="1"/>
          </p:cNvSpPr>
          <p:nvPr userDrawn="1"/>
        </p:nvSpPr>
        <p:spPr bwMode="black">
          <a:xfrm>
            <a:off x="1461823" y="3789363"/>
            <a:ext cx="6982354" cy="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10C7349A-6F0B-48EE-8FC8-1B6651BA0117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1150542" y="6226284"/>
            <a:ext cx="7603198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2724" tIns="32724" rIns="32724" bIns="32724" anchor="ctr">
            <a:spAutoFit/>
          </a:bodyPr>
          <a:lstStyle>
            <a:lvl1pPr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ctr" defTabSz="83185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Univers" pitchFamily="34" charset="0"/>
                <a:ea typeface="굴림" charset="-127"/>
                <a:cs typeface="Arial" charset="0"/>
              </a:rPr>
              <a:t>CONFIDENTIAL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C34A5A8-14EF-4164-A28E-2D096FA0A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000" y="1750741"/>
            <a:ext cx="1692000" cy="81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665AD10-8822-4F8B-9599-1639D22AE0D9}"/>
              </a:ext>
            </a:extLst>
          </p:cNvPr>
          <p:cNvSpPr txBox="1"/>
          <p:nvPr userDrawn="1"/>
        </p:nvSpPr>
        <p:spPr>
          <a:xfrm>
            <a:off x="7341280" y="6525344"/>
            <a:ext cx="24482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78EC74D-A98E-4D76-82E8-66E486721528}" type="slidenum">
              <a:rPr lang="ko-KR" altLang="en-US" sz="11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A28BA161-9055-46A2-A4C7-2C17120E2D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64" y="6300499"/>
            <a:ext cx="2128161" cy="48216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45770" y="849643"/>
            <a:ext cx="8915400" cy="5170968"/>
          </a:xfrm>
        </p:spPr>
        <p:txBody>
          <a:bodyPr/>
          <a:lstStyle>
            <a:lvl1pPr marL="209550" indent="-209550" algn="l" defTabSz="806450">
              <a:lnSpc>
                <a:spcPct val="140000"/>
              </a:lnSpc>
              <a:buClr>
                <a:schemeClr val="tx2">
                  <a:lumMod val="75000"/>
                </a:schemeClr>
              </a:buClr>
              <a:buSzPct val="75000"/>
              <a:buFont typeface="Wingdings" pitchFamily="2" charset="2"/>
              <a:buChar char="n"/>
              <a:defRPr sz="1600" b="1"/>
            </a:lvl1pPr>
            <a:lvl2pPr marL="388938" indent="-160338" algn="l" defTabSz="806450">
              <a:lnSpc>
                <a:spcPct val="140000"/>
              </a:lnSpc>
              <a:buClr>
                <a:schemeClr val="tx1">
                  <a:lumMod val="85000"/>
                  <a:lumOff val="15000"/>
                </a:schemeClr>
              </a:buClr>
              <a:buSzPct val="100000"/>
              <a:buFontTx/>
              <a:buChar char="•"/>
              <a:defRPr sz="1400" b="1"/>
            </a:lvl2pPr>
            <a:lvl3pPr>
              <a:defRPr sz="1600"/>
            </a:lvl3pPr>
          </a:lstStyle>
          <a:p>
            <a:pPr>
              <a:buClr>
                <a:schemeClr val="tx2">
                  <a:lumMod val="75000"/>
                </a:schemeClr>
              </a:buClr>
            </a:pPr>
            <a:r>
              <a:rPr lang="ko-KR" altLang="en-US" sz="1400" dirty="0"/>
              <a:t>마스터 텍스트 스타일을 편집합니다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맑은고딕</a:t>
            </a:r>
            <a:r>
              <a:rPr lang="ko-KR" altLang="en-US" sz="1400" dirty="0"/>
              <a:t> </a:t>
            </a:r>
            <a:r>
              <a:rPr lang="en-US" altLang="ko-KR" sz="1400" dirty="0"/>
              <a:t>14pt)</a:t>
            </a:r>
            <a:endParaRPr lang="ko-KR" altLang="en-US" sz="1400" dirty="0"/>
          </a:p>
          <a:p>
            <a:pPr lvl="1">
              <a:buClrTx/>
            </a:pPr>
            <a:r>
              <a:rPr lang="ko-KR" altLang="en-US" sz="1200" dirty="0"/>
              <a:t>둘째 수준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맑은고딕</a:t>
            </a:r>
            <a:r>
              <a:rPr lang="ko-KR" altLang="en-US" sz="1200" dirty="0"/>
              <a:t> </a:t>
            </a:r>
            <a:r>
              <a:rPr lang="en-US" altLang="ko-KR" sz="1200" dirty="0"/>
              <a:t>12pt)</a:t>
            </a:r>
          </a:p>
          <a:p>
            <a:pPr marL="228600" lvl="1" indent="0">
              <a:buClrTx/>
              <a:buNone/>
            </a:pPr>
            <a:r>
              <a:rPr lang="en-US" altLang="ko-KR" sz="1100" b="0" dirty="0"/>
              <a:t>   - </a:t>
            </a:r>
            <a:r>
              <a:rPr lang="ko-KR" altLang="en-US" sz="1100" b="0" dirty="0"/>
              <a:t>내용을 입력해주세요 </a:t>
            </a:r>
            <a:r>
              <a:rPr lang="en-US" altLang="ko-KR" sz="1100" b="0" dirty="0"/>
              <a:t>(</a:t>
            </a:r>
            <a:r>
              <a:rPr lang="ko-KR" altLang="en-US" sz="1100" b="0" dirty="0" err="1"/>
              <a:t>맑은고딕</a:t>
            </a:r>
            <a:r>
              <a:rPr lang="ko-KR" altLang="en-US" sz="1100" b="0" dirty="0"/>
              <a:t> </a:t>
            </a:r>
            <a:r>
              <a:rPr lang="en-US" altLang="ko-KR" sz="1100" b="0" dirty="0"/>
              <a:t>11pt)</a:t>
            </a:r>
            <a:endParaRPr lang="ko-KR" altLang="en-US" sz="1100" b="0" dirty="0"/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9906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94114" y="252161"/>
            <a:ext cx="7444968" cy="428628"/>
          </a:xfrm>
        </p:spPr>
        <p:txBody>
          <a:bodyPr>
            <a:noAutofit/>
          </a:bodyPr>
          <a:lstStyle>
            <a:lvl1pPr algn="l">
              <a:defRPr lang="ko-KR" altLang="en-US" sz="2200" dirty="0"/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제목을 입력해주세요 </a:t>
            </a:r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(</a:t>
            </a:r>
            <a:r>
              <a:rPr lang="ko-KR" altLang="en-US" sz="2000" dirty="0" err="1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맑은고딕</a:t>
            </a:r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20pt)</a:t>
            </a:r>
            <a:endParaRPr lang="ko-KR" altLang="en-US" sz="2200" dirty="0">
              <a:latin typeface="+mj-lt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64664D8-18FA-43E9-96E3-043628EF8839}"/>
              </a:ext>
            </a:extLst>
          </p:cNvPr>
          <p:cNvCxnSpPr>
            <a:cxnSpLocks/>
          </p:cNvCxnSpPr>
          <p:nvPr userDrawn="1"/>
        </p:nvCxnSpPr>
        <p:spPr>
          <a:xfrm>
            <a:off x="242492" y="692696"/>
            <a:ext cx="9421989" cy="0"/>
          </a:xfrm>
          <a:prstGeom prst="line">
            <a:avLst/>
          </a:prstGeom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35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첫째 수준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7C06D48-56E4-4E78-A7B9-A77416336D9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CE9868A-1B95-447C-85D7-97014485D92A}"/>
              </a:ext>
            </a:extLst>
          </p:cNvPr>
          <p:cNvSpPr txBox="1">
            <a:spLocks/>
          </p:cNvSpPr>
          <p:nvPr/>
        </p:nvSpPr>
        <p:spPr bwMode="auto">
          <a:xfrm>
            <a:off x="745814" y="2564905"/>
            <a:ext cx="8420100" cy="13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 b="1" kern="120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/>
            <a:r>
              <a:rPr lang="ko-KR" altLang="en-US" sz="30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AI 자율해킹 위협과 ARTEX 분석·실증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751EB322-75D7-4E45-B438-62D5EE6EBC46}"/>
              </a:ext>
            </a:extLst>
          </p:cNvPr>
          <p:cNvSpPr txBox="1">
            <a:spLocks/>
          </p:cNvSpPr>
          <p:nvPr/>
        </p:nvSpPr>
        <p:spPr bwMode="auto">
          <a:xfrm>
            <a:off x="1496616" y="3861048"/>
            <a:ext cx="693420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800" kern="1200" baseline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4572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ko-KR" altLang="en-US" sz="16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금융권 보안 관점의 선제 역량 평가 — DVWA 선행 테스트</a:t>
            </a:r>
          </a:p>
          <a:p>
            <a:pPr/>
            <a:r>
              <a:rPr lang="ko-KR" altLang="en-US" sz="1000" b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/>
            <a:r>
              <a:rPr lang="ko-KR" altLang="en-US" sz="14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OOO그룹 / OOO팀</a:t>
            </a:r>
          </a:p>
          <a:p>
            <a:pPr/>
            <a:r>
              <a:rPr lang="ko-KR" altLang="en-US" sz="14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2026. 10.</a:t>
            </a:r>
          </a:p>
        </p:txBody>
      </p:sp>
    </p:spTree>
    <p:extLst>
      <p:ext uri="{BB962C8B-B14F-4D97-AF65-F5344CB8AC3E}">
        <p14:creationId xmlns:p14="http://schemas.microsoft.com/office/powerpoint/2010/main" val="121085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/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배경 — AI 자율해킹의 부상과 금융권 리스크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D6D3410-4291-4D52-8503-985E16676567}"/>
              </a:ext>
            </a:extLst>
          </p:cNvPr>
          <p:cNvSpPr txBox="1">
            <a:spLocks/>
          </p:cNvSpPr>
          <p:nvPr/>
        </p:nvSpPr>
        <p:spPr>
          <a:xfrm>
            <a:off x="445770" y="850320"/>
            <a:ext cx="8915400" cy="5170968"/>
          </a:xfrm>
          <a:prstGeom prst="rect">
            <a:avLst/>
          </a:prstGeom>
        </p:spPr>
        <p:txBody>
          <a:bodyPr/>
          <a:lstStyle>
            <a:lvl1pPr marL="209550" indent="-209550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75000"/>
              <a:buFont typeface="Wingdings" pitchFamily="2" charset="2"/>
              <a:buChar char="n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8938" indent="-160338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100000"/>
              <a:buFontTx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AI 자율해킹의 부상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LLM 에이전트가 </a:t>
            </a:r>
            <a:r>
              <a:rPr lang="ko-KR" altLang="en-US" sz="13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'한 문장 지시'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만으로 정찰 → 침투 → 보고를 스스로 수행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사람 개입 없이 공격이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자동화·대량화·저비용화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되는 구조로 전환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공격 코드(페이로드)가 매 시도마다 달라져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기존 시그니처 기반 탐지의 효과가 급감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금융권에 미치는 위협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공격 속도·규모가 사람 공격자 대비 비약적으로 증가 → 탐지·대응 시간 압박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내부망·인증 시스템 침투 시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금전·고객정보 피해로 직결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'알려진 취약점'뿐 아니라 설정 오류·비표준 결함까지 자율 탐색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분석의 필요성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공격자가 이러한 도구를 쓸 경우의 실제 역량을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선제적으로 파악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본 분석은 대표적 LLM 기반 자율 침투 플랫폼 </a:t>
            </a:r>
            <a:r>
              <a:rPr lang="ko-KR" altLang="en-US" sz="13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'ARTEX'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를 대상으로 수행</a:t>
            </a:r>
          </a:p>
        </p:txBody>
      </p:sp>
    </p:spTree>
    <p:extLst>
      <p:ext uri="{BB962C8B-B14F-4D97-AF65-F5344CB8AC3E}">
        <p14:creationId xmlns:p14="http://schemas.microsoft.com/office/powerpoint/2010/main" val="224352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/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분석 대상 — ARTEX 자율 침투 테스트 플랫폼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D6D3410-4291-4D52-8503-985E16676567}"/>
              </a:ext>
            </a:extLst>
          </p:cNvPr>
          <p:cNvSpPr txBox="1">
            <a:spLocks/>
          </p:cNvSpPr>
          <p:nvPr/>
        </p:nvSpPr>
        <p:spPr>
          <a:xfrm>
            <a:off x="445770" y="850320"/>
            <a:ext cx="8915400" cy="5170968"/>
          </a:xfrm>
          <a:prstGeom prst="rect">
            <a:avLst/>
          </a:prstGeom>
        </p:spPr>
        <p:txBody>
          <a:bodyPr/>
          <a:lstStyle>
            <a:lvl1pPr marL="209550" indent="-209550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75000"/>
              <a:buFont typeface="Wingdings" pitchFamily="2" charset="2"/>
              <a:buChar char="n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8938" indent="-160338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100000"/>
              <a:buFontTx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개념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대화 지시만으로 침투 테스트를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자율 수행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하는 LLM 기반 오케스트레이션 플랫폼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대화·작업·발견·트래픽·도구 실행·LLM 녹화·자산·차단을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단일 콘솔로 통합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 제공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동작 구조 — 3단계 자율 파이프라인</a:t>
            </a:r>
          </a:p>
          <a:p>
            <a:pPr lvl="1"/>
            <a:r>
              <a:rPr lang="ko-KR" altLang="en-US" sz="13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① 대화(Auto): 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사용자 지시를 받아 작업을 생성·지휘·추적(오케스트레이션)</a:t>
            </a:r>
          </a:p>
          <a:p>
            <a:pPr lvl="1"/>
            <a:r>
              <a:rPr lang="ko-KR" altLang="en-US" sz="13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② 작업 워커: 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planner/worker가 도구를 자율 실행하며 공격을 수행</a:t>
            </a:r>
          </a:p>
          <a:p>
            <a:pPr lvl="1"/>
            <a:r>
              <a:rPr lang="ko-KR" altLang="en-US" sz="13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③ 발견 등록: 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확인된 취약점을 report_finding으로 플랫폼에 정식 등록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통제 장치 (가드레일)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대화 단계의 직접 등록은 차단 →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작업 컨텍스트에서만 등록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되도록 흐름을 강제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워커가 지정 범위를 벗어나면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실시간으로 교정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(방향 유지 제어 동작 확인)</a:t>
            </a:r>
          </a:p>
        </p:txBody>
      </p:sp>
    </p:spTree>
    <p:extLst>
      <p:ext uri="{BB962C8B-B14F-4D97-AF65-F5344CB8AC3E}">
        <p14:creationId xmlns:p14="http://schemas.microsoft.com/office/powerpoint/2010/main" val="22435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/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수행 개요 — 격리 환경과 선행 대상(DVWA)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D6D3410-4291-4D52-8503-985E16676567}"/>
              </a:ext>
            </a:extLst>
          </p:cNvPr>
          <p:cNvSpPr txBox="1">
            <a:spLocks/>
          </p:cNvSpPr>
          <p:nvPr/>
        </p:nvSpPr>
        <p:spPr>
          <a:xfrm>
            <a:off x="445770" y="850320"/>
            <a:ext cx="8915400" cy="5170968"/>
          </a:xfrm>
          <a:prstGeom prst="rect">
            <a:avLst/>
          </a:prstGeom>
        </p:spPr>
        <p:txBody>
          <a:bodyPr/>
          <a:lstStyle>
            <a:lvl1pPr marL="209550" indent="-209550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75000"/>
              <a:buFont typeface="Wingdings" pitchFamily="2" charset="2"/>
              <a:buChar char="n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8938" indent="-160338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100000"/>
              <a:buFontTx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수행 원칙 — 완전 격리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외부와 분리된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폐쇄망에서만 수행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, 실서비스·실고객 데이터 미사용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보안 교육·검증 전용 환경 →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실제 피해 가능성 원천 차단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선행 대상 — DVWA (Damn Vulnerable Web Application)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취약점이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의도적으로 설계된 표준 모의해킹 실습 웹앱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'정답지(ground truth)'가 존재 → ARTEX 역량을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정량적으로 평가 가능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수행 방법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단일 대화 지시 → 작업 자율 생성·실행 →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라이브 재검증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 → 발견 자동 등록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전 과정을 사람 개입 없이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엔드투엔드로 수행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(유료 모델로 중단 없이 완주)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대상 IP 등 민감 정보는 보고 시 마스킹 처리(</a:t>
            </a:r>
            <a:r>
              <a:rPr lang="ko-KR" altLang="en-US" sz="13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 xml:space="preserve">192.168.*.*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)</a:t>
            </a:r>
          </a:p>
        </p:txBody>
      </p:sp>
    </p:spTree>
    <p:extLst>
      <p:ext uri="{BB962C8B-B14F-4D97-AF65-F5344CB8AC3E}">
        <p14:creationId xmlns:p14="http://schemas.microsoft.com/office/powerpoint/2010/main" val="22435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/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핵심 결과 — 알려진 취약점 전부 탐지 + 추가 1건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D6D3410-4291-4D52-8503-985E16676567}"/>
              </a:ext>
            </a:extLst>
          </p:cNvPr>
          <p:cNvSpPr txBox="1">
            <a:spLocks/>
          </p:cNvSpPr>
          <p:nvPr/>
        </p:nvSpPr>
        <p:spPr>
          <a:xfrm>
            <a:off x="445770" y="850320"/>
            <a:ext cx="4520000" cy="5170968"/>
          </a:xfrm>
          <a:prstGeom prst="rect">
            <a:avLst/>
          </a:prstGeom>
        </p:spPr>
        <p:txBody>
          <a:bodyPr/>
          <a:lstStyle>
            <a:lvl1pPr marL="209550" indent="-209550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75000"/>
              <a:buFont typeface="Wingdings" pitchFamily="2" charset="2"/>
              <a:buChar char="n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8938" indent="-160338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100000"/>
              <a:buFontTx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ko-KR" altLang="en-US"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완전성 — 정답지 전부 탐지</a:t>
            </a:r>
          </a:p>
          <a:p>
            <a:pPr lvl="1"/>
            <a:r>
              <a:rPr lang="ko-KR" altLang="en-US" sz="12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DVWA 알려진 취약점 표면 전체 탐지 → </a:t>
            </a:r>
            <a:r>
              <a:rPr lang="ko-KR" altLang="en-US" sz="125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커버리지 14/14, 누락 0</a:t>
            </a:r>
          </a:p>
          <a:p>
            <a:pPr lvl="1"/>
            <a:r>
              <a:rPr lang="ko-KR" altLang="en-US" sz="12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막힌 경로도 대체 각도로 결함 확인(단순 매칭 아님)</a:t>
            </a:r>
          </a:p>
          <a:p>
            <a:pPr/>
            <a:r>
              <a:rPr lang="ko-KR" altLang="en-US"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확장성 — 정답지 밖 1건 추가</a:t>
            </a:r>
          </a:p>
          <a:p>
            <a:pPr lvl="1"/>
            <a:r>
              <a:rPr lang="ko-KR" altLang="en-US" sz="12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모듈에 없는 </a:t>
            </a:r>
            <a:r>
              <a:rPr lang="ko-KR" altLang="en-US" sz="1250" b="1" dirty="0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 xml:space="preserve">서버 설정 결함 1건 자율 포착</a:t>
            </a:r>
          </a:p>
          <a:p>
            <a:pPr/>
            <a:r>
              <a:rPr lang="ko-KR" altLang="en-US"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자율성 — 사람 개입 없는 완주</a:t>
            </a:r>
          </a:p>
          <a:p>
            <a:pPr lvl="1"/>
            <a:r>
              <a:rPr lang="ko-KR" altLang="en-US" sz="12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단일 지시로 정찰→침투→검증→등록 자동 완료</a:t>
            </a:r>
          </a:p>
          <a:p>
            <a:pPr lvl="1"/>
            <a:r>
              <a:rPr lang="ko-KR" altLang="en-US" sz="12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총 </a:t>
            </a:r>
            <a:r>
              <a:rPr lang="ko-KR" altLang="en-US" sz="125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15건 확정 등록</a:t>
            </a:r>
            <a:r>
              <a:rPr lang="ko-KR" altLang="en-US" sz="12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, 라이브 재검증</a:t>
            </a:r>
          </a:p>
          <a:p>
            <a:pPr lvl="1"/>
            <a:r>
              <a:rPr lang="ko-KR" altLang="en-US" sz="12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요지: 핵심은 '무엇이 취약한가'가 아니라 </a:t>
            </a:r>
            <a:r>
              <a:rPr lang="ko-KR" altLang="en-US" sz="125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전부 + 하나 더 찾은 완전성</a:t>
            </a:r>
          </a:p>
        </p:txBody>
      </p:sp>
      <p:sp>
        <p:nvSpPr>
          <p:cNvPr id="201" name="viz201"/>
          <p:cNvSpPr txBox="1"/>
          <p:nvPr/>
        </p:nvSpPr>
        <p:spPr>
          <a:xfrm>
            <a:off x="5150000" y="850320"/>
            <a:ext cx="2045585" cy="860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9525">
            <a:solidFill>
              <a:srgbClr val="D4DAE6"/>
            </a:solidFill>
          </a:ln>
        </p:spPr>
        <p:txBody>
          <a:bodyPr wrap="square" anchor="ctr" lIns="45720" tIns="18288" rIns="45720" bIns="18288">
            <a:normAutofit/>
          </a:bodyPr>
          <a:lstStyle/>
          <a:p>
            <a:pPr algn="ctr">
              <a:buNone/>
              <a:spcAft>
                <a:spcPts val="200"/>
              </a:spcAft>
            </a:pPr>
            <a:r>
              <a:rPr lang="ko-KR" altLang="en-US" sz="28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14/14</a:t>
            </a:r>
          </a:p>
          <a:p>
            <a:pPr algn="ctr">
              <a:buNone/>
            </a:pPr>
            <a:r>
              <a:rPr lang="ko-KR" altLang="en-US" sz="10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 xml:space="preserve">모듈 커버리지 (100%)</a:t>
            </a:r>
          </a:p>
        </p:txBody>
      </p:sp>
      <p:sp>
        <p:nvSpPr>
          <p:cNvPr id="202" name="viz202"/>
          <p:cNvSpPr txBox="1"/>
          <p:nvPr/>
        </p:nvSpPr>
        <p:spPr>
          <a:xfrm>
            <a:off x="7315585" y="850320"/>
            <a:ext cx="2045585" cy="860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9525">
            <a:solidFill>
              <a:srgbClr val="D4DAE6"/>
            </a:solidFill>
          </a:ln>
        </p:spPr>
        <p:txBody>
          <a:bodyPr wrap="square" anchor="ctr" lIns="45720" tIns="18288" rIns="45720" bIns="18288">
            <a:normAutofit/>
          </a:bodyPr>
          <a:lstStyle/>
          <a:p>
            <a:pPr algn="ctr">
              <a:buNone/>
              <a:spcAft>
                <a:spcPts val="200"/>
              </a:spcAft>
            </a:pPr>
            <a:r>
              <a:rPr lang="ko-KR" altLang="en-US" sz="2800" b="1" dirty="0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 xml:space="preserve">+1</a:t>
            </a:r>
          </a:p>
          <a:p>
            <a:pPr algn="ctr">
              <a:buNone/>
            </a:pPr>
            <a:r>
              <a:rPr lang="ko-KR" altLang="en-US" sz="10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 xml:space="preserve">정답지 밖 추가 발견</a:t>
            </a:r>
          </a:p>
        </p:txBody>
      </p:sp>
      <p:sp>
        <p:nvSpPr>
          <p:cNvPr id="203" name="viz203"/>
          <p:cNvSpPr txBox="1"/>
          <p:nvPr/>
        </p:nvSpPr>
        <p:spPr>
          <a:xfrm>
            <a:off x="5150000" y="1830320"/>
            <a:ext cx="2045585" cy="860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9525">
            <a:solidFill>
              <a:srgbClr val="D4DAE6"/>
            </a:solidFill>
          </a:ln>
        </p:spPr>
        <p:txBody>
          <a:bodyPr wrap="square" anchor="ctr" lIns="45720" tIns="18288" rIns="45720" bIns="18288">
            <a:normAutofit/>
          </a:bodyPr>
          <a:lstStyle/>
          <a:p>
            <a:pPr algn="ctr">
              <a:buNone/>
              <a:spcAft>
                <a:spcPts val="200"/>
              </a:spcAft>
            </a:pPr>
            <a:r>
              <a:rPr lang="ko-KR" altLang="en-US" sz="28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15</a:t>
            </a:r>
          </a:p>
          <a:p>
            <a:pPr algn="ctr">
              <a:buNone/>
            </a:pPr>
            <a:r>
              <a:rPr lang="ko-KR" altLang="en-US" sz="10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 xml:space="preserve">총 확정 등록</a:t>
            </a:r>
          </a:p>
        </p:txBody>
      </p:sp>
      <p:sp>
        <p:nvSpPr>
          <p:cNvPr id="204" name="viz204"/>
          <p:cNvSpPr txBox="1"/>
          <p:nvPr/>
        </p:nvSpPr>
        <p:spPr>
          <a:xfrm>
            <a:off x="7315585" y="1830320"/>
            <a:ext cx="2045585" cy="860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9525">
            <a:solidFill>
              <a:srgbClr val="D4DAE6"/>
            </a:solidFill>
          </a:ln>
        </p:spPr>
        <p:txBody>
          <a:bodyPr wrap="square" anchor="ctr" lIns="45720" tIns="18288" rIns="45720" bIns="18288">
            <a:normAutofit/>
          </a:bodyPr>
          <a:lstStyle/>
          <a:p>
            <a:pPr algn="ctr">
              <a:buNone/>
              <a:spcAft>
                <a:spcPts val="200"/>
              </a:spcAft>
            </a:pPr>
            <a:r>
              <a:rPr lang="ko-KR" altLang="en-US" sz="2800" b="1" dirty="0">
                <a:solidFill>
                  <a:srgbClr val="4F7A28"/>
                </a:solidFill>
                <a:latin typeface="맑은 고딕"/>
                <a:ea typeface="맑은 고딕"/>
                <a:cs typeface="맑은 고딕"/>
              </a:rPr>
              <a:t xml:space="preserve">0</a:t>
            </a:r>
          </a:p>
          <a:p>
            <a:pPr algn="ctr">
              <a:buNone/>
            </a:pPr>
            <a:r>
              <a:rPr lang="ko-KR" altLang="en-US" sz="10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 xml:space="preserve">누락</a:t>
            </a:r>
          </a:p>
        </p:txBody>
      </p:sp>
      <p:sp>
        <p:nvSpPr>
          <p:cNvPr id="205" name="viz205"/>
          <p:cNvSpPr txBox="1"/>
          <p:nvPr/>
        </p:nvSpPr>
        <p:spPr>
          <a:xfrm>
            <a:off x="5150000" y="2870320"/>
            <a:ext cx="4211170" cy="3300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lIns="45720" tIns="18288" rIns="45720" bIns="18288">
            <a:normAutofit/>
          </a:bodyPr>
          <a:lstStyle/>
          <a:p>
            <a:pPr algn="l">
              <a:buNone/>
            </a:pPr>
            <a:r>
              <a:rPr lang="ko-KR" altLang="en-US" sz="125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DVWA 14개 모듈 — 전부 탐지(14/14)</a:t>
            </a:r>
          </a:p>
        </p:txBody>
      </p:sp>
      <p:sp>
        <p:nvSpPr>
          <p:cNvPr id="206" name="viz206"/>
          <p:cNvSpPr txBox="1"/>
          <p:nvPr/>
        </p:nvSpPr>
        <p:spPr>
          <a:xfrm>
            <a:off x="5150000" y="3230320"/>
            <a:ext cx="2045585" cy="225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45720" tIns="18288" rIns="45720" bIns="18288">
            <a:normAutofit/>
          </a:bodyPr>
          <a:lstStyle/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sqli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sqli_blind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exec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fi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upload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xss_r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xss_s</a:t>
            </a:r>
          </a:p>
        </p:txBody>
      </p:sp>
      <p:sp>
        <p:nvSpPr>
          <p:cNvPr id="207" name="viz207"/>
          <p:cNvSpPr txBox="1"/>
          <p:nvPr/>
        </p:nvSpPr>
        <p:spPr>
          <a:xfrm>
            <a:off x="7315585" y="3230320"/>
            <a:ext cx="2045585" cy="225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45720" tIns="18288" rIns="45720" bIns="18288">
            <a:normAutofit/>
          </a:bodyPr>
          <a:lstStyle/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xss_d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csrf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brute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weak_id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csp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javascript</a:t>
            </a:r>
          </a:p>
          <a:p>
            <a:pPr algn="l">
              <a:buNone/>
              <a:spcAft>
                <a:spcPts val="400"/>
              </a:spcAft>
            </a:pPr>
            <a:r>
              <a:rPr lang="ko-KR" altLang="en-US" sz="1200" b="1" dirty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 xml:space="preserve">✓ </a:t>
            </a:r>
            <a:r>
              <a:rPr lang="ko-KR" altLang="en-US" sz="11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captcha</a:t>
            </a:r>
          </a:p>
        </p:txBody>
      </p:sp>
      <p:sp>
        <p:nvSpPr>
          <p:cNvPr id="208" name="viz208"/>
          <p:cNvSpPr txBox="1"/>
          <p:nvPr/>
        </p:nvSpPr>
        <p:spPr>
          <a:xfrm>
            <a:off x="5150000" y="5550320"/>
            <a:ext cx="4211170" cy="470000"/>
          </a:xfrm>
          <a:prstGeom prst="roundRect">
            <a:avLst>
              <a:gd name="adj" fmla="val 6000"/>
            </a:avLst>
          </a:prstGeom>
          <a:solidFill>
            <a:srgbClr val="FBEEE9"/>
          </a:solidFill>
          <a:ln w="9525">
            <a:solidFill>
              <a:srgbClr val="E7C3BB"/>
            </a:solidFill>
          </a:ln>
        </p:spPr>
        <p:txBody>
          <a:bodyPr wrap="square" anchor="ctr" lIns="45720" tIns="18288" rIns="45720" bIns="18288">
            <a:normAutofit/>
          </a:bodyPr>
          <a:lstStyle/>
          <a:p>
            <a:pPr algn="l">
              <a:buNone/>
            </a:pPr>
            <a:r>
              <a:rPr lang="ko-KR" altLang="en-US" sz="1150" b="1" dirty="0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 xml:space="preserve">＋ 보너스  </a:t>
            </a:r>
            <a:r>
              <a:rPr lang="ko-KR" altLang="en-US"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 xml:space="preserve">디렉터리 리스팅(서버 설정 결함) — 정답지 밖 1건</a:t>
            </a:r>
          </a:p>
        </p:txBody>
      </p:sp>
    </p:spTree>
    <p:extLst>
      <p:ext uri="{BB962C8B-B14F-4D97-AF65-F5344CB8AC3E}">
        <p14:creationId xmlns:p14="http://schemas.microsoft.com/office/powerpoint/2010/main" val="22435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/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균형 평가 — 입증된 역량과 한계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D6D3410-4291-4D52-8503-985E16676567}"/>
              </a:ext>
            </a:extLst>
          </p:cNvPr>
          <p:cNvSpPr txBox="1">
            <a:spLocks/>
          </p:cNvSpPr>
          <p:nvPr/>
        </p:nvSpPr>
        <p:spPr>
          <a:xfrm>
            <a:off x="445770" y="850320"/>
            <a:ext cx="8915400" cy="5170968"/>
          </a:xfrm>
          <a:prstGeom prst="rect">
            <a:avLst/>
          </a:prstGeom>
        </p:spPr>
        <p:txBody>
          <a:bodyPr/>
          <a:lstStyle>
            <a:lvl1pPr marL="209550" indent="-209550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75000"/>
              <a:buFont typeface="Wingdings" pitchFamily="2" charset="2"/>
              <a:buChar char="n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8938" indent="-160338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100000"/>
              <a:buFontTx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입증된 것 (역량)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단일 지시 기반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자율 오케스트레이션·자동화의 완결성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막힌 요청을 응답·소스 코드를 근거로 스스로 보정하는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관찰형 자율 추론</a:t>
            </a:r>
          </a:p>
          <a:p>
            <a:pPr lvl="2"/>
            <a:r>
              <a:rPr lang="ko-KR" altLang="en-US" sz="11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예: 로그인 실패 → 누락 토큰 확인 / 요청 무반응 → 소스 확인 후 파라미터 보정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선 긋기 (한계, 과장 경계)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미지의 취약점을 발굴한 </a:t>
            </a:r>
            <a:r>
              <a:rPr lang="ko-KR" altLang="en-US" sz="1300" b="1" dirty="0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 xml:space="preserve">'독자적 취약점 연구'는 아님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DVWA 사전지식·공개 소스 정보를 활용한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'관찰 기반 실패 대응'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에 해당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일부 보정은 도구가 제공하는 소스 열람 기능을 활용(화이트박스에 가까움)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함의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그럼에도 '한 번의 지시로 전 과정을 완주'하는 역량은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현실의 위협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'실험실 개념'이 아니라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지금 작동하는 자동화 공격 역량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으로 보아야 함</a:t>
            </a:r>
          </a:p>
        </p:txBody>
      </p:sp>
    </p:spTree>
    <p:extLst>
      <p:ext uri="{BB962C8B-B14F-4D97-AF65-F5344CB8AC3E}">
        <p14:creationId xmlns:p14="http://schemas.microsoft.com/office/powerpoint/2010/main" val="224352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/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 및 대응 방향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D6D3410-4291-4D52-8503-985E16676567}"/>
              </a:ext>
            </a:extLst>
          </p:cNvPr>
          <p:cNvSpPr txBox="1">
            <a:spLocks/>
          </p:cNvSpPr>
          <p:nvPr/>
        </p:nvSpPr>
        <p:spPr>
          <a:xfrm>
            <a:off x="445770" y="850320"/>
            <a:ext cx="8915400" cy="5170968"/>
          </a:xfrm>
          <a:prstGeom prst="rect">
            <a:avLst/>
          </a:prstGeom>
        </p:spPr>
        <p:txBody>
          <a:bodyPr/>
          <a:lstStyle>
            <a:lvl1pPr marL="209550" indent="-209550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75000"/>
              <a:buFont typeface="Wingdings" pitchFamily="2" charset="2"/>
              <a:buChar char="n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8938" indent="-160338" algn="l" defTabSz="806450" rtl="0" eaLnBrk="1" latinLnBrk="1" hangingPunct="1">
              <a:lnSpc>
                <a:spcPct val="140000"/>
              </a:lnSpc>
              <a:spcBef>
                <a:spcPct val="20000"/>
              </a:spcBef>
              <a:buClr>
                <a:schemeClr val="tx1">
                  <a:lumMod val="85000"/>
                  <a:lumOff val="15000"/>
                </a:schemeClr>
              </a:buClr>
              <a:buSzPct val="100000"/>
              <a:buFontTx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결론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AI 자율해킹은 현실 위협 — ARTEX는 단일 지시로 전 과정 완주, </a:t>
            </a:r>
            <a:r>
              <a:rPr lang="ko-KR" altLang="en-US" sz="13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정답지 전부 탐지 + 추가 1건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금융권은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'AI를 쓰는 공격자'를 전제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로 탐지·대응 체계를 재점검할 시점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방어 관점 — 탐지의 축을 바꿔야 함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'무엇으로 공격했나(페이로드)' →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'어떻게 움직이나(행위 지문)'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로 전환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가장 강한 단서: </a:t>
            </a:r>
            <a:r>
              <a:rPr lang="ko-KR" altLang="en-US" sz="13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 xml:space="preserve">데이터 흐름 상관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(응답에서 얻은 값을 다음 요청에 즉시 재사용)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보조 지표: 목표 지향 단계 전이, 단일 출발지·다벡터 혼재, 클라이언트 정체성 불일치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현실적 대안: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허니토큰</a:t>
            </a:r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(유출→재사용 포착) + WAF 경보 체이닝 + UEBA</a:t>
            </a:r>
          </a:p>
          <a:p>
            <a:pPr/>
            <a:r>
              <a:rPr lang="ko-KR" altLang="en-US" sz="15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다음 단계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격리 환경에서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금융권 모의 대상으로 범위 확대 실증</a:t>
            </a:r>
          </a:p>
          <a:p>
            <a:pPr lvl="1"/>
            <a:r>
              <a:rPr lang="ko-KR" altLang="en-US" sz="13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탐지룰·SIEM 상관·대응 플레이북 정비 →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 xml:space="preserve">관제센터(SOC) 적용</a:t>
            </a:r>
          </a:p>
        </p:txBody>
      </p:sp>
    </p:spTree>
    <p:extLst>
      <p:ext uri="{BB962C8B-B14F-4D97-AF65-F5344CB8AC3E}">
        <p14:creationId xmlns:p14="http://schemas.microsoft.com/office/powerpoint/2010/main" val="224352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6287</TotalTime>
  <Words>82</Words>
  <Application>Microsoft Office PowerPoint</Application>
  <PresentationFormat>A4 용지(210x297mm)</PresentationFormat>
  <Paragraphs>19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굴림</vt:lpstr>
      <vt:lpstr>맑은 고딕</vt:lpstr>
      <vt:lpstr>Arial</vt:lpstr>
      <vt:lpstr>Trebuchet MS</vt:lpstr>
      <vt:lpstr>Univers</vt:lpstr>
      <vt:lpstr>Wingdings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이주병(JB Lee, CAPS PR)</dc:creator>
  <cp:lastModifiedBy>이주병(LEE JB - 마케팅Comm.팀)</cp:lastModifiedBy>
  <cp:revision>413</cp:revision>
  <cp:lastPrinted>2020-02-11T08:39:04Z</cp:lastPrinted>
  <dcterms:created xsi:type="dcterms:W3CDTF">2010-10-05T00:44:07Z</dcterms:created>
  <dcterms:modified xsi:type="dcterms:W3CDTF">2021-11-04T07:16:06Z</dcterms:modified>
</cp:coreProperties>
</file>